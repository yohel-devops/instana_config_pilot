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2a4203ad664627" /><Relationship Type="http://schemas.openxmlformats.org/officeDocument/2006/relationships/extended-properties" Target="/docProps/app.xml" Id="Rcf019d005fdb4c5c" /><Relationship Type="http://schemas.openxmlformats.org/officeDocument/2006/relationships/officeDocument" Target="/ppt/presentation.xml" Id="R5294826f254845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76f061e7fe4d2f"/>
  </p:sldMasterIdLst>
  <p:notesMasterIdLst>
    <p:notesMasterId xmlns:r="http://schemas.openxmlformats.org/officeDocument/2006/relationships" r:id="R1027260affa046b4"/>
  </p:notesMasterIdLst>
  <p:sldIdLst>
    <p:sldId xmlns:r="http://schemas.openxmlformats.org/officeDocument/2006/relationships" id="256" r:id="Rb043908c8afb41e0"/>
    <p:sldId xmlns:r="http://schemas.openxmlformats.org/officeDocument/2006/relationships" id="257" r:id="R82ac249cd53c497c"/>
    <p:sldId xmlns:r="http://schemas.openxmlformats.org/officeDocument/2006/relationships" id="258" r:id="Rc148a7ab27eb4b1f"/>
    <p:sldId xmlns:r="http://schemas.openxmlformats.org/officeDocument/2006/relationships" id="259" r:id="R4727e56bd98140ed"/>
    <p:sldId xmlns:r="http://schemas.openxmlformats.org/officeDocument/2006/relationships" id="260" r:id="Rba0b2980b7844b51"/>
    <p:sldId xmlns:r="http://schemas.openxmlformats.org/officeDocument/2006/relationships" id="261" r:id="Rec5d8c4e14b84616"/>
    <p:sldId xmlns:r="http://schemas.openxmlformats.org/officeDocument/2006/relationships" id="262" r:id="R27dc85703cc84ed5"/>
    <p:sldId xmlns:r="http://schemas.openxmlformats.org/officeDocument/2006/relationships" id="263" r:id="R492a68aa776e4479"/>
    <p:sldId xmlns:r="http://schemas.openxmlformats.org/officeDocument/2006/relationships" id="264" r:id="R5d756a06678a4175"/>
    <p:sldId xmlns:r="http://schemas.openxmlformats.org/officeDocument/2006/relationships" id="265" r:id="R0049b02971214edd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76f061e7fe4d2f" /><Relationship Type="http://schemas.openxmlformats.org/officeDocument/2006/relationships/theme" Target="/ppt/theme/theme1.xml" Id="R4b3268ac1ace4334" /><Relationship Type="http://schemas.openxmlformats.org/officeDocument/2006/relationships/notesMaster" Target="/ppt/notesMasters/notesMaster1.xml" Id="R1027260affa046b4" /><Relationship Type="http://schemas.openxmlformats.org/officeDocument/2006/relationships/presProps" Target="/ppt/presProps.xml" Id="Rf592ad4557e14fa8" /><Relationship Type="http://schemas.openxmlformats.org/officeDocument/2006/relationships/viewProps" Target="/ppt/viewProps.xml" Id="Raef8083726864b98" /><Relationship Type="http://schemas.openxmlformats.org/officeDocument/2006/relationships/tableStyles" Target="/ppt/tableStyles.xml" Id="Ra9fda29b94a940b9" /><Relationship Type="http://schemas.openxmlformats.org/officeDocument/2006/relationships/slide" Target="/ppt/slides/slide1.xml" Id="Rb043908c8afb41e0" /><Relationship Type="http://schemas.openxmlformats.org/officeDocument/2006/relationships/slide" Target="/ppt/slides/slide2.xml" Id="R82ac249cd53c497c" /><Relationship Type="http://schemas.openxmlformats.org/officeDocument/2006/relationships/slide" Target="/ppt/slides/slide3.xml" Id="Rc148a7ab27eb4b1f" /><Relationship Type="http://schemas.openxmlformats.org/officeDocument/2006/relationships/slide" Target="/ppt/slides/slide4.xml" Id="R4727e56bd98140ed" /><Relationship Type="http://schemas.openxmlformats.org/officeDocument/2006/relationships/slide" Target="/ppt/slides/slide5.xml" Id="Rba0b2980b7844b51" /><Relationship Type="http://schemas.openxmlformats.org/officeDocument/2006/relationships/slide" Target="/ppt/slides/slide6.xml" Id="Rec5d8c4e14b84616" /><Relationship Type="http://schemas.openxmlformats.org/officeDocument/2006/relationships/slide" Target="/ppt/slides/slide7.xml" Id="R27dc85703cc84ed5" /><Relationship Type="http://schemas.openxmlformats.org/officeDocument/2006/relationships/slide" Target="/ppt/slides/slide8.xml" Id="R492a68aa776e4479" /><Relationship Type="http://schemas.openxmlformats.org/officeDocument/2006/relationships/slide" Target="/ppt/slides/slide9.xml" Id="R5d756a06678a4175" /><Relationship Type="http://schemas.openxmlformats.org/officeDocument/2006/relationships/slide" Target="/ppt/slides/slide10.xml" Id="R0049b02971214e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42c8e1ff64545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d5f1fdf6a94906" /><Relationship Type="http://schemas.openxmlformats.org/officeDocument/2006/relationships/notesMaster" Target="/ppt/notesMasters/notesMaster1.xml" Id="R01539402879d46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7590cf180343e1" /><Relationship Type="http://schemas.openxmlformats.org/officeDocument/2006/relationships/notesMaster" Target="/ppt/notesMasters/notesMaster1.xml" Id="R5852f015a3714e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e772f35b074c52" /><Relationship Type="http://schemas.openxmlformats.org/officeDocument/2006/relationships/notesMaster" Target="/ppt/notesMasters/notesMaster1.xml" Id="Re61bf802ce6d4a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65c5cba28b49c7" /><Relationship Type="http://schemas.openxmlformats.org/officeDocument/2006/relationships/notesMaster" Target="/ppt/notesMasters/notesMaster1.xml" Id="R3be3b48eede54c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a3e9e4cf6246cc" /><Relationship Type="http://schemas.openxmlformats.org/officeDocument/2006/relationships/notesMaster" Target="/ppt/notesMasters/notesMaster1.xml" Id="R79878af86fee48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17a2d21ee94542" /><Relationship Type="http://schemas.openxmlformats.org/officeDocument/2006/relationships/notesMaster" Target="/ppt/notesMasters/notesMaster1.xml" Id="R2461218634c541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08dd56f67446da" /><Relationship Type="http://schemas.openxmlformats.org/officeDocument/2006/relationships/notesMaster" Target="/ppt/notesMasters/notesMaster1.xml" Id="R4b8bde2019ad44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d6648a214a492d" /><Relationship Type="http://schemas.openxmlformats.org/officeDocument/2006/relationships/notesMaster" Target="/ppt/notesMasters/notesMaster1.xml" Id="Re7180543b4c64c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de4c71089e4c0e" /><Relationship Type="http://schemas.openxmlformats.org/officeDocument/2006/relationships/notesMaster" Target="/ppt/notesMasters/notesMaster1.xml" Id="R462f22d7b6f440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f2192fe85e4dc0" /><Relationship Type="http://schemas.openxmlformats.org/officeDocument/2006/relationships/notesMaster" Target="/ppt/notesMasters/notesMaster1.xml" Id="R0fa275b3036d49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eebc25e298447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53f5af1a0694d9f" /><Relationship Type="http://schemas.openxmlformats.org/officeDocument/2006/relationships/slideLayout" Target="/ppt/slideLayouts/slideLayout2.xml" Id="Rbde8891fd7f44c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e8891fd7f44c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47df3cd749487c" /><Relationship Type="http://schemas.openxmlformats.org/officeDocument/2006/relationships/image" Target="/ppt/media/image.png" Id="Rdd19351cde6b4c68" /><Relationship Type="http://schemas.openxmlformats.org/officeDocument/2006/relationships/notesSlide" Target="/ppt/notesSlides/notesSlide1.xml" Id="R12aca2dd9d1d4b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6c973d663d463a" /><Relationship Type="http://schemas.openxmlformats.org/officeDocument/2006/relationships/notesSlide" Target="/ppt/notesSlides/notesSlide2.xml" Id="R541a7de4d8b646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fd52d4ed5f4c86" /><Relationship Type="http://schemas.openxmlformats.org/officeDocument/2006/relationships/notesSlide" Target="/ppt/notesSlides/notesSlide3.xml" Id="R1b29ef43490b43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2150cc42574a42" /><Relationship Type="http://schemas.openxmlformats.org/officeDocument/2006/relationships/image" Target="/ppt/media/image2.png" Id="R4c0f52c405cb4a5f" /><Relationship Type="http://schemas.openxmlformats.org/officeDocument/2006/relationships/notesSlide" Target="/ppt/notesSlides/notesSlide4.xml" Id="R3d19bf3e20444c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bbabc89c424c27" /><Relationship Type="http://schemas.openxmlformats.org/officeDocument/2006/relationships/image" Target="/ppt/media/image3.png" Id="R60adc99ac8d141f6" /><Relationship Type="http://schemas.openxmlformats.org/officeDocument/2006/relationships/notesSlide" Target="/ppt/notesSlides/notesSlide5.xml" Id="R2f2a49ff73b94e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42363ac8154823" /><Relationship Type="http://schemas.openxmlformats.org/officeDocument/2006/relationships/image" Target="/ppt/media/image4.png" Id="R4b529592bf764723" /><Relationship Type="http://schemas.openxmlformats.org/officeDocument/2006/relationships/image" Target="/ppt/media/image5.png" Id="R2d49bf9cc1194ec9" /><Relationship Type="http://schemas.openxmlformats.org/officeDocument/2006/relationships/notesSlide" Target="/ppt/notesSlides/notesSlide6.xml" Id="R70f0520089ca40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b73a62e1c646fb" /><Relationship Type="http://schemas.openxmlformats.org/officeDocument/2006/relationships/image" Target="/ppt/media/image6.png" Id="Re362d86bf49149fb" /><Relationship Type="http://schemas.openxmlformats.org/officeDocument/2006/relationships/notesSlide" Target="/ppt/notesSlides/notesSlide7.xml" Id="R169fe7a84d5840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92cdca925047d4" /><Relationship Type="http://schemas.openxmlformats.org/officeDocument/2006/relationships/notesSlide" Target="/ppt/notesSlides/notesSlide8.xml" Id="Rd90dea7fe0504f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944af22b534d9f" /><Relationship Type="http://schemas.openxmlformats.org/officeDocument/2006/relationships/notesSlide" Target="/ppt/notesSlides/notesSlide9.xml" Id="R1a1fa521e9fc42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0bece805c445b0" /><Relationship Type="http://schemas.openxmlformats.org/officeDocument/2006/relationships/notesSlide" Target="/ppt/notesSlides/notesSlide10.xml" Id="Rd294f7cc114f4fd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FB107F-DA76-4ADD-9C1F-1CC311E4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9844D-1335-4BBD-B5C6-8E7B64E0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65120"/>
            <a:ext cx="713232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62F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5ABBF-6DC1-42C5-8DB1-2A558CCA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140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IBM Bob Hackathon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624FF00-559D-4A31-8702-184DC221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3981450" cy="201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600" b="1" i="0">
                <a:solidFill>
                  <a:srgbClr val="FFFFFF"/>
                </a:solidFill>
              </a:defRPr>
            </a:pPr>
            <a:r>
              <a:rPr sz="6600" b="1" i="0">
                <a:solidFill>
                  <a:srgbClr val="FFFFFF"/>
                </a:solidFill>
              </a:rPr>
              <a:t>Instana</a:t>
            </a:r>
          </a:p>
          <a:p xmlns:a="http://schemas.openxmlformats.org/drawingml/2006/main">
            <a:pPr>
              <a:defRPr sz="6600" b="1" i="0">
                <a:solidFill>
                  <a:srgbClr val="FFFFFF"/>
                </a:solidFill>
              </a:defRPr>
            </a:pPr>
            <a:r>
              <a:rPr sz="6600" b="1" i="0">
                <a:solidFill>
                  <a:srgbClr val="FFFFFF"/>
                </a:solidFill>
              </a:rPr>
              <a:t>Config Pilot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DF71ABF-4C0B-43FE-BBAA-D3354770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48350"/>
            <a:ext cx="61531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D4E3FF"/>
                </a:solidFill>
              </a:defRPr>
            </a:pPr>
            <a:r>
              <a:rPr sz="2250" b="0" i="0">
                <a:solidFill>
                  <a:srgbClr val="D4E3FF"/>
                </a:solidFill>
              </a:rPr>
              <a:t>Generate, validate, compare, and export IBM Instana configuration YAML from a guided browser 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AEFD4-DDB0-486A-A978-96F7C7AE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19900"/>
            <a:ext cx="228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DBA"/>
          </a:solidFill>
          <a:ln xmlns:a="http://schemas.openxmlformats.org/drawingml/2006/main" w="0">
            <a:solidFill>
              <a:srgbClr val="08BD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EDE3C-6E4C-4FE5-B5C1-A40988B6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162800"/>
            <a:ext cx="3790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A7F3D0"/>
                </a:solidFill>
              </a:defRPr>
            </a:pPr>
            <a:r>
              <a:rPr sz="1725" b="1" i="0">
                <a:solidFill>
                  <a:srgbClr val="A7F3D0"/>
                </a:solidFill>
              </a:rPr>
              <a:t>Frontend-first delivery built with IBM Bob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17360-BFAE-44DF-9B3E-BE8D07F7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320" y="2047875"/>
            <a:ext cx="871728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0D5DD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9351cde6b4c68"/>
          <a:stretch xmlns:a="http://schemas.openxmlformats.org/drawingml/2006/main"/>
        </p:blipFill>
        <p:spPr>
          <a:xfrm xmlns:a="http://schemas.openxmlformats.org/drawingml/2006/main">
            <a:off x="8751570" y="2143125"/>
            <a:ext cx="8526780" cy="5619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D9F46-F8E6-45C3-B79E-278A4044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020050"/>
            <a:ext cx="8724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7D7FE"/>
                </a:solidFill>
              </a:defRPr>
            </a:pPr>
            <a:r>
              <a:rPr sz="1500" b="0" i="0">
                <a:solidFill>
                  <a:srgbClr val="C7D7FE"/>
                </a:solidFill>
              </a:rPr>
              <a:t>Browser-based workflow: template -&gt; sensors -&gt; validation -&gt; export</a:t>
            </a:r>
          </a:p>
        </p:txBody>
      </p:sp>
    </p:spTree>
    <p:extLst>
      <p:ext uri="{BB962C8B-B14F-4D97-AF65-F5344CB8AC3E}">
        <p14:creationId xmlns:p14="http://schemas.microsoft.com/office/powerpoint/2010/main" val="1444565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C6BF82D-FB5B-419B-8C84-BF17648E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857205-D0E9-4001-BF76-C4E47921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"/>
            <a:ext cx="84391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101828"/>
                </a:solidFill>
              </a:defRPr>
            </a:pPr>
            <a:r>
              <a:rPr sz="4200" b="1" i="0">
                <a:solidFill>
                  <a:srgbClr val="101828"/>
                </a:solidFill>
              </a:rPr>
              <a:t>Manual Instana YAML editing is fragile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227EFAB-6609-4A89-B53A-508C1C07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9067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475467"/>
                </a:solidFill>
              </a:defRPr>
            </a:pPr>
            <a:r>
              <a:rPr sz="1875" b="0" i="0">
                <a:solidFill>
                  <a:srgbClr val="475467"/>
                </a:solidFill>
              </a:rPr>
              <a:t>Large configuration files create operational risk before changes ever reach a real environment.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70424-A20E-421E-B14F-40885B8B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5276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DA1E28"/>
                </a:solidFill>
              </a:defRPr>
            </a:pPr>
            <a:r>
              <a:rPr sz="2250" b="1" i="0">
                <a:solidFill>
                  <a:srgbClr val="DA1E28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91C1A-D654-4AD2-AB3C-7075815B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5276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01828"/>
                </a:solidFill>
              </a:defRPr>
            </a:pPr>
            <a:r>
              <a:rPr sz="3150" b="1" i="0">
                <a:solidFill>
                  <a:srgbClr val="101828"/>
                </a:solidFill>
              </a:rPr>
              <a:t>Syntax and indentation errors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8DCF3-3003-4D43-9A48-48545666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48400"/>
            <a:ext cx="5276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475467"/>
                </a:solidFill>
              </a:defRPr>
            </a:pPr>
            <a:r>
              <a:rPr sz="1875" b="0" i="0">
                <a:solidFill>
                  <a:srgbClr val="475467"/>
                </a:solidFill>
              </a:rPr>
              <a:t>A single spacing mistake can break an otherwise valid sensor configuration.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79573-CC7E-4412-8F00-9E811052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67300"/>
            <a:ext cx="5276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1C21B"/>
                </a:solidFill>
              </a:defRPr>
            </a:pPr>
            <a:r>
              <a:rPr sz="2250" b="1" i="0">
                <a:solidFill>
                  <a:srgbClr val="F1C21B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444AB-20F6-4F6A-AE11-52DEA03B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81650"/>
            <a:ext cx="5276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01828"/>
                </a:solidFill>
              </a:defRPr>
            </a:pPr>
            <a:r>
              <a:rPr sz="3150" b="1" i="0">
                <a:solidFill>
                  <a:srgbClr val="101828"/>
                </a:solidFill>
              </a:rPr>
              <a:t>Incomplete sensor fields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B703F-5B53-4877-9E58-EE6B5015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248400"/>
            <a:ext cx="5276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475467"/>
                </a:solidFill>
              </a:defRPr>
            </a:pPr>
            <a:r>
              <a:rPr sz="1875" b="0" i="0">
                <a:solidFill>
                  <a:srgbClr val="475467"/>
                </a:solidFill>
              </a:rPr>
              <a:t>Different servers and environments need different sensors, credentials, tags, and tuning values.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BCE07-7AFD-41AF-BBED-E91D44FE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067300"/>
            <a:ext cx="5276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0F62FE"/>
                </a:solidFill>
              </a:defRPr>
            </a:pPr>
            <a:r>
              <a:rPr sz="2250" b="1" i="0">
                <a:solidFill>
                  <a:srgbClr val="0F62FE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46E30-07D2-452B-9A48-0161D681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581650"/>
            <a:ext cx="5276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01828"/>
                </a:solidFill>
              </a:defRPr>
            </a:pPr>
            <a:r>
              <a:rPr sz="3150" b="1" i="0">
                <a:solidFill>
                  <a:srgbClr val="101828"/>
                </a:solidFill>
              </a:rPr>
              <a:t>Hard-to-review changes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320C1-1474-4563-957C-5780CFF6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248400"/>
            <a:ext cx="5276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475467"/>
                </a:solidFill>
              </a:defRPr>
            </a:pPr>
            <a:r>
              <a:rPr sz="1875" b="0" i="0">
                <a:solidFill>
                  <a:srgbClr val="475467"/>
                </a:solidFill>
              </a:rPr>
              <a:t>Teams need to understand exactly what changed before applying configuration.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9F57F-3A19-42A2-BCB8-5F4D1240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39250"/>
            <a:ext cx="2552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Instana Config Pilot | IBM Bob Hackathon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2495A6-9AD6-453D-838D-4D41C8B9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92392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67085"/>
                </a:solidFill>
              </a:defRPr>
            </a:pPr>
            <a:r>
              <a:rPr sz="1200" b="1" i="0">
                <a:solidFill>
                  <a:srgbClr val="66708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254444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79E49FA-69B6-4AFE-BAE4-0FDB6676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1E419F-CFBC-4146-B906-69B51753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"/>
            <a:ext cx="110109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101828"/>
                </a:solidFill>
              </a:defRPr>
            </a:pPr>
            <a:r>
              <a:rPr sz="4200" b="1" i="0">
                <a:solidFill>
                  <a:srgbClr val="101828"/>
                </a:solidFill>
              </a:rPr>
              <a:t>A guided workflow from template to usable YAML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FAD26EE-3FF4-4E62-949E-2E7B8118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7372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475467"/>
                </a:solidFill>
              </a:defRPr>
            </a:pPr>
            <a:r>
              <a:rPr sz="1875" b="0" i="0">
                <a:solidFill>
                  <a:srgbClr val="475467"/>
                </a:solidFill>
              </a:rPr>
              <a:t>Instana Config Pilot turns configuration work into a repeatable browser 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8246C-0C57-4555-8BA0-09EF1A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313944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6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0613A-2AA2-4A02-AD0E-4CEB3240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1028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Load template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2CE2D-0D3B-4640-9047-E2AD8E0C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340" y="4667250"/>
            <a:ext cx="313944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4C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64651-2B62-45CA-A645-D8C15D46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62500"/>
            <a:ext cx="104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Detect sensors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11683-B465-43E2-BB7C-21055F51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280" y="4667250"/>
            <a:ext cx="313944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BDBA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40CC0-50FD-446C-8E16-C9F866D3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62500"/>
            <a:ext cx="1104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Configure fields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60EF8-D49F-4DC9-A381-B4FA050D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220" y="4667250"/>
            <a:ext cx="313944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A14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69F1B-BA01-44CB-A63C-DEB19780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762500"/>
            <a:ext cx="933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Validate risks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96A20-A473-4B6B-B917-143E7E2D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4160" y="4667250"/>
            <a:ext cx="313944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38D84-07FD-4D11-BD52-A484DBE4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4762500"/>
            <a:ext cx="800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Export files</a:t>
            </a:r>
          </a:p>
        </p:txBody>
      </p:sp>
      <p:sp>
        <p:nvSpPr>
          <p:cNvPr id="14" name="bullet-dot">
            <a:extLst xmlns:a="http://schemas.openxmlformats.org/drawingml/2006/main">
              <a:ext uri="{FF2B5EF4-FFF2-40B4-BE49-F238E27FC236}">
                <a16:creationId xmlns:a16="http://schemas.microsoft.com/office/drawing/2014/main" id="{62113940-8004-4E05-8748-46602537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76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solidFill>
              <a:srgbClr val="0F62F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4A943C-A8C0-45B8-8795-C0D92CCE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00700"/>
            <a:ext cx="7600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Detects `com.instana.plugin.*` blocks from Instana-style YAML</a:t>
            </a:r>
          </a:p>
        </p:txBody>
      </p:sp>
      <p:sp>
        <p:nvSpPr>
          <p:cNvPr id="16" name="bullet-dot">
            <a:extLst xmlns:a="http://schemas.openxmlformats.org/drawingml/2006/main">
              <a:ext uri="{FF2B5EF4-FFF2-40B4-BE49-F238E27FC236}">
                <a16:creationId xmlns:a16="http://schemas.microsoft.com/office/drawing/2014/main" id="{CD3B8D58-974A-4BB8-A09E-7DD1047D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91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solidFill>
              <a:srgbClr val="0F62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FBB14F-6832-445F-857D-AD56E577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96000"/>
            <a:ext cx="7600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Builds a dynamic sensor catalog with known and unknown sensors</a:t>
            </a:r>
          </a:p>
        </p:txBody>
      </p:sp>
      <p:sp>
        <p:nvSpPr>
          <p:cNvPr id="18" name="bullet-dot">
            <a:extLst xmlns:a="http://schemas.openxmlformats.org/drawingml/2006/main">
              <a:ext uri="{FF2B5EF4-FFF2-40B4-BE49-F238E27FC236}">
                <a16:creationId xmlns:a16="http://schemas.microsoft.com/office/drawing/2014/main" id="{27D28F1F-CA36-465E-B7EA-401DB18B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05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solidFill>
              <a:srgbClr val="0F62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49D66E-382E-4D05-A186-E9AFCFE3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10350"/>
            <a:ext cx="7600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Generates `configuration.yaml` without hand-editing indentation</a:t>
            </a:r>
          </a:p>
        </p:txBody>
      </p:sp>
      <p:sp>
        <p:nvSpPr>
          <p:cNvPr id="20" name="bullet-dot">
            <a:extLst xmlns:a="http://schemas.openxmlformats.org/drawingml/2006/main">
              <a:ext uri="{FF2B5EF4-FFF2-40B4-BE49-F238E27FC236}">
                <a16:creationId xmlns:a16="http://schemas.microsoft.com/office/drawing/2014/main" id="{24591883-147D-4AC3-B807-19562E90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76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148"/>
          </a:solidFill>
          <a:ln xmlns:a="http://schemas.openxmlformats.org/drawingml/2006/main">
            <a:solidFill>
              <a:srgbClr val="24A14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9B7209-8077-4F2C-9450-79018423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600700"/>
            <a:ext cx="7600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Generates `.env.example` placeholders for credentials</a:t>
            </a:r>
          </a:p>
        </p:txBody>
      </p:sp>
      <p:sp>
        <p:nvSpPr>
          <p:cNvPr id="22" name="bullet-dot">
            <a:extLst xmlns:a="http://schemas.openxmlformats.org/drawingml/2006/main">
              <a:ext uri="{FF2B5EF4-FFF2-40B4-BE49-F238E27FC236}">
                <a16:creationId xmlns:a16="http://schemas.microsoft.com/office/drawing/2014/main" id="{AEC71B0F-4566-4815-88A6-8EAD37F4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191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148"/>
          </a:solidFill>
          <a:ln xmlns:a="http://schemas.openxmlformats.org/drawingml/2006/main">
            <a:solidFill>
              <a:srgbClr val="24A1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FD17A3-0FD2-41BB-9861-8D17BBDA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096000"/>
            <a:ext cx="7600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Flags missing required values and hardcoded-secret risks</a:t>
            </a:r>
          </a:p>
        </p:txBody>
      </p:sp>
      <p:sp>
        <p:nvSpPr>
          <p:cNvPr id="24" name="bullet-dot">
            <a:extLst xmlns:a="http://schemas.openxmlformats.org/drawingml/2006/main">
              <a:ext uri="{FF2B5EF4-FFF2-40B4-BE49-F238E27FC236}">
                <a16:creationId xmlns:a16="http://schemas.microsoft.com/office/drawing/2014/main" id="{FE24C6F9-D791-4124-9377-8D714BC5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705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148"/>
          </a:solidFill>
          <a:ln xmlns:a="http://schemas.openxmlformats.org/drawingml/2006/main">
            <a:solidFill>
              <a:srgbClr val="24A14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F4CBD4-BAEB-49DC-89C2-29AC6850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610350"/>
            <a:ext cx="7600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Compares generated YAML against another file before 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5A157E-B1DC-4782-B8F8-9BB58241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39250"/>
            <a:ext cx="2552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Instana Config Pilot | IBM Bob Hackathon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5E710F-DF03-45FA-B3B6-BAC31465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92392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67085"/>
                </a:solidFill>
              </a:defRPr>
            </a:pPr>
            <a:r>
              <a:rPr sz="1200" b="1" i="0">
                <a:solidFill>
                  <a:srgbClr val="66708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645720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8D9F1E5-FA1D-4FCC-BD37-6B7FBD14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90D98A-87C4-45A1-9292-06755EAE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"/>
            <a:ext cx="111252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101828"/>
                </a:solidFill>
              </a:defRPr>
            </a:pPr>
            <a:r>
              <a:rPr sz="4200" b="1" i="0">
                <a:solidFill>
                  <a:srgbClr val="101828"/>
                </a:solidFill>
              </a:rPr>
              <a:t>The demo starts with a real Instana-style template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AA944E0-3777-4F29-9B96-7A211691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9544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475467"/>
                </a:solidFill>
              </a:defRPr>
            </a:pPr>
            <a:r>
              <a:rPr sz="1875" b="0" i="0">
                <a:solidFill>
                  <a:srgbClr val="475467"/>
                </a:solidFill>
              </a:rPr>
              <a:t>The frontend loads the template, discovers sensor blocks, and exposes the workflow in one screen.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914C9-59C9-4D80-B75F-FB551455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6560"/>
            <a:ext cx="16459200" cy="5974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0D5DD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f52c405cb4a5f"/>
          <a:stretch xmlns:a="http://schemas.openxmlformats.org/drawingml/2006/main"/>
        </p:blipFill>
        <p:spPr>
          <a:xfrm xmlns:a="http://schemas.openxmlformats.org/drawingml/2006/main">
            <a:off x="1009650" y="3051810"/>
            <a:ext cx="16268700" cy="578358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01134-7FFF-4B09-BC40-3AEC504A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39250"/>
            <a:ext cx="2552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Instana Config Pilot | IBM Bob Hackathon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7A5D2-78A4-4698-A358-79F5F742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92392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67085"/>
                </a:solidFill>
              </a:defRPr>
            </a:pPr>
            <a:r>
              <a:rPr sz="1200" b="1" i="0">
                <a:solidFill>
                  <a:srgbClr val="66708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628398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228EA86-B888-4A6F-A03B-7C083D6D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1FE642-B597-4F39-920D-C8730E51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"/>
            <a:ext cx="11125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101828"/>
                </a:solidFill>
              </a:defRPr>
            </a:pPr>
            <a:r>
              <a:rPr sz="4200" b="1" i="0">
                <a:solidFill>
                  <a:srgbClr val="101828"/>
                </a:solidFill>
              </a:rPr>
              <a:t>Sensor catalog: searchable, filterable, configurable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142E345-8F99-45B6-87DC-984ACE26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10020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475467"/>
                </a:solidFill>
              </a:defRPr>
            </a:pPr>
            <a:r>
              <a:rPr sz="1875" b="0" i="0">
                <a:solidFill>
                  <a:srgbClr val="475467"/>
                </a:solidFill>
              </a:rPr>
              <a:t>Known sensors get curated fields; unknown plugin blocks are still preserved through dynamic metadata.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5CFD2-CB4B-4368-9D43-12ECD479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0730"/>
            <a:ext cx="10036969" cy="68999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0D5DD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dc99ac8d141f6"/>
          <a:stretch xmlns:a="http://schemas.openxmlformats.org/drawingml/2006/main"/>
        </p:blipFill>
        <p:spPr>
          <a:xfrm xmlns:a="http://schemas.openxmlformats.org/drawingml/2006/main">
            <a:off x="1009650" y="2125980"/>
            <a:ext cx="9846469" cy="670941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BB546-382D-42E6-AEBF-5F7A988A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191000"/>
            <a:ext cx="6019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01828"/>
                </a:solidFill>
              </a:defRPr>
            </a:pPr>
            <a:r>
              <a:rPr sz="2550" b="1" i="0">
                <a:solidFill>
                  <a:srgbClr val="101828"/>
                </a:solidFill>
              </a:rPr>
              <a:t>What the user gets</a:t>
            </a:r>
          </a:p>
        </p:txBody>
      </p:sp>
      <p:sp>
        <p:nvSpPr>
          <p:cNvPr id="7" name="bullet-dot">
            <a:extLst xmlns:a="http://schemas.openxmlformats.org/drawingml/2006/main">
              <a:ext uri="{FF2B5EF4-FFF2-40B4-BE49-F238E27FC236}">
                <a16:creationId xmlns:a16="http://schemas.microsoft.com/office/drawing/2014/main" id="{78B1F0F9-B0B0-432B-BEFC-48A22225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895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solidFill>
              <a:srgbClr val="0F62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24B05-240D-4C2A-981D-009BC8D7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819650"/>
            <a:ext cx="571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Search and category filters</a:t>
            </a:r>
          </a:p>
        </p:txBody>
      </p:sp>
      <p:sp>
        <p:nvSpPr>
          <p:cNvPr id="9" name="bullet-dot">
            <a:extLst xmlns:a="http://schemas.openxmlformats.org/drawingml/2006/main">
              <a:ext uri="{FF2B5EF4-FFF2-40B4-BE49-F238E27FC236}">
                <a16:creationId xmlns:a16="http://schemas.microsoft.com/office/drawing/2014/main" id="{CE33445C-342A-4E69-8190-5E3B1F09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448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solidFill>
              <a:srgbClr val="0F62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74BBB-F4FC-4996-A08D-047C78C4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353050"/>
            <a:ext cx="571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One-click sensor enablement</a:t>
            </a:r>
          </a:p>
        </p:txBody>
      </p:sp>
      <p:sp>
        <p:nvSpPr>
          <p:cNvPr id="11" name="bullet-dot">
            <a:extLst xmlns:a="http://schemas.openxmlformats.org/drawingml/2006/main">
              <a:ext uri="{FF2B5EF4-FFF2-40B4-BE49-F238E27FC236}">
                <a16:creationId xmlns:a16="http://schemas.microsoft.com/office/drawing/2014/main" id="{7AEB3D04-0694-4D49-9BC6-B3BF4C1B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000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solidFill>
              <a:srgbClr val="0F62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34BF8-A0E8-4166-B2DF-FA76F744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905500"/>
            <a:ext cx="571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Required-field guidance</a:t>
            </a:r>
          </a:p>
        </p:txBody>
      </p:sp>
      <p:sp>
        <p:nvSpPr>
          <p:cNvPr id="13" name="bullet-dot">
            <a:extLst xmlns:a="http://schemas.openxmlformats.org/drawingml/2006/main">
              <a:ext uri="{FF2B5EF4-FFF2-40B4-BE49-F238E27FC236}">
                <a16:creationId xmlns:a16="http://schemas.microsoft.com/office/drawing/2014/main" id="{13346D46-F810-4B5D-9905-706291F5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53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solidFill>
              <a:srgbClr val="0F62F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6013B-5DD5-4436-9703-51809C36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457950"/>
            <a:ext cx="571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IBM MQ demo values for fast walkthrough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12425-99A7-492F-8246-44122D30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39250"/>
            <a:ext cx="2552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Instana Config Pilot | IBM Bob Hackathon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9CBA4D-BAF9-41DA-BD46-2A8A5102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92392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67085"/>
                </a:solidFill>
              </a:defRPr>
            </a:pPr>
            <a:r>
              <a:rPr sz="1200" b="1" i="0">
                <a:solidFill>
                  <a:srgbClr val="66708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2389995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D9E2694-8606-447C-A25C-ED824D33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73EAB2-64E6-42E2-9B34-B67EDF7A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"/>
            <a:ext cx="121539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101828"/>
                </a:solidFill>
              </a:defRPr>
            </a:pPr>
            <a:r>
              <a:rPr sz="4200" b="1" i="0">
                <a:solidFill>
                  <a:srgbClr val="101828"/>
                </a:solidFill>
              </a:rPr>
              <a:t>Generated outputs separate configuration from secrets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C9FCB06-F75C-479F-8E10-F0CFDCEF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9029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475467"/>
                </a:solidFill>
              </a:defRPr>
            </a:pPr>
            <a:r>
              <a:rPr sz="1875" b="0" i="0">
                <a:solidFill>
                  <a:srgbClr val="475467"/>
                </a:solidFill>
              </a:rPr>
              <a:t>`configuration.yaml` carries structure; `.env.example` carries placeholders for sensitive values.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F8A51-5777-4BD3-8AFF-920ACC3F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8077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01828"/>
                </a:solidFill>
              </a:defRPr>
            </a:pPr>
            <a:r>
              <a:rPr sz="2100" b="1" i="0">
                <a:solidFill>
                  <a:srgbClr val="101828"/>
                </a:solidFill>
              </a:rPr>
              <a:t>configuration.yaml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E392D-E084-4ADE-AA62-0D8B332D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8067675" cy="5520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0D5DD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29592bf764723"/>
          <a:stretch xmlns:a="http://schemas.openxmlformats.org/drawingml/2006/main"/>
        </p:blipFill>
        <p:spPr>
          <a:xfrm xmlns:a="http://schemas.openxmlformats.org/drawingml/2006/main">
            <a:off x="1009650" y="3505200"/>
            <a:ext cx="7877175" cy="533019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B52D3-B02F-4019-A80B-E2161944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52750"/>
            <a:ext cx="8077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01828"/>
                </a:solidFill>
              </a:defRPr>
            </a:pPr>
            <a:r>
              <a:rPr sz="2100" b="1" i="0">
                <a:solidFill>
                  <a:srgbClr val="101828"/>
                </a:solidFill>
              </a:rPr>
              <a:t>.env.example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43437-DA32-40C2-A84C-BDC2A612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409950"/>
            <a:ext cx="8067675" cy="5520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0D5DD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49bf9cc1194ec9"/>
          <a:stretch xmlns:a="http://schemas.openxmlformats.org/drawingml/2006/main"/>
        </p:blipFill>
        <p:spPr>
          <a:xfrm xmlns:a="http://schemas.openxmlformats.org/drawingml/2006/main">
            <a:off x="9401175" y="3505200"/>
            <a:ext cx="7877175" cy="533019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1BF9A-EC40-48BB-9E6F-DCA76D43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39250"/>
            <a:ext cx="2552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Instana Config Pilot | IBM Bob Hackathon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51901-0759-4890-A5B0-987957E8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92392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67085"/>
                </a:solidFill>
              </a:defRPr>
            </a:pPr>
            <a:r>
              <a:rPr sz="1200" b="1" i="0">
                <a:solidFill>
                  <a:srgbClr val="66708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572996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27FC604-A8B3-4C02-8391-AC23E916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8C282C-9BA2-4C16-A050-AB8086F8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"/>
            <a:ext cx="111633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101828"/>
                </a:solidFill>
              </a:defRPr>
            </a:pPr>
            <a:r>
              <a:rPr sz="4200" b="1" i="0">
                <a:solidFill>
                  <a:srgbClr val="101828"/>
                </a:solidFill>
              </a:rPr>
              <a:t>Compare mode makes configuration review visible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07DF0DA-0C9B-4E43-9230-C15CE2BC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8972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475467"/>
                </a:solidFill>
              </a:defRPr>
            </a:pPr>
            <a:r>
              <a:rPr sz="1875" b="0" i="0">
                <a:solidFill>
                  <a:srgbClr val="475467"/>
                </a:solidFill>
              </a:rPr>
              <a:t>Before applying changes, teams can compare generated YAML against another candidate file.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0E67F-89BD-4B9C-8715-CF14DD72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6560"/>
            <a:ext cx="9646920" cy="5974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0D5DD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2d86bf49149fb"/>
          <a:stretch xmlns:a="http://schemas.openxmlformats.org/drawingml/2006/main"/>
        </p:blipFill>
        <p:spPr>
          <a:xfrm xmlns:a="http://schemas.openxmlformats.org/drawingml/2006/main">
            <a:off x="1009650" y="3051810"/>
            <a:ext cx="9456420" cy="578358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4BA07-F7D8-4952-BC90-69915AC7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895850"/>
            <a:ext cx="6438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101828"/>
                </a:solidFill>
              </a:defRPr>
            </a:pPr>
            <a:r>
              <a:rPr sz="3000" b="1" i="0">
                <a:solidFill>
                  <a:srgbClr val="101828"/>
                </a:solidFill>
              </a:rPr>
              <a:t>Review before apply</a:t>
            </a:r>
          </a:p>
        </p:txBody>
      </p:sp>
      <p:sp>
        <p:nvSpPr>
          <p:cNvPr id="7" name="bullet-dot">
            <a:extLst xmlns:a="http://schemas.openxmlformats.org/drawingml/2006/main">
              <a:ext uri="{FF2B5EF4-FFF2-40B4-BE49-F238E27FC236}">
                <a16:creationId xmlns:a16="http://schemas.microsoft.com/office/drawing/2014/main" id="{998ACBEA-3ABA-483B-860D-B984F4EE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676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solidFill>
              <a:srgbClr val="0F62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C8B66-CD19-4044-A812-A95A6A25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581650"/>
            <a:ext cx="6134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Visual line-by-line diff</a:t>
            </a:r>
          </a:p>
        </p:txBody>
      </p:sp>
      <p:sp>
        <p:nvSpPr>
          <p:cNvPr id="9" name="bullet-dot">
            <a:extLst xmlns:a="http://schemas.openxmlformats.org/drawingml/2006/main">
              <a:ext uri="{FF2B5EF4-FFF2-40B4-BE49-F238E27FC236}">
                <a16:creationId xmlns:a16="http://schemas.microsoft.com/office/drawing/2014/main" id="{5AB98707-ACB1-4D44-BACD-C2C62458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29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solidFill>
              <a:srgbClr val="0F62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A2699-E2A5-4558-B93E-BDA7BE27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34100"/>
            <a:ext cx="6134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Candidate YAML validation</a:t>
            </a:r>
          </a:p>
        </p:txBody>
      </p:sp>
      <p:sp>
        <p:nvSpPr>
          <p:cNvPr id="11" name="bullet-dot">
            <a:extLst xmlns:a="http://schemas.openxmlformats.org/drawingml/2006/main">
              <a:ext uri="{FF2B5EF4-FFF2-40B4-BE49-F238E27FC236}">
                <a16:creationId xmlns:a16="http://schemas.microsoft.com/office/drawing/2014/main" id="{F5C335DE-200D-4E2E-A374-5E8C9364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762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solidFill>
              <a:srgbClr val="0F62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9F2E0-58DD-4FC8-8ECD-0E0CEBE9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86550"/>
            <a:ext cx="6134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Clear A/B comparison for operators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67B63-89F5-4A25-BA17-2B07BEE8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39250"/>
            <a:ext cx="2552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Instana Config Pilot | IBM Bob Hackathon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CA304-5C04-4168-8206-AA9752F2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92392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67085"/>
                </a:solidFill>
              </a:defRPr>
            </a:pPr>
            <a:r>
              <a:rPr sz="1200" b="1" i="0">
                <a:solidFill>
                  <a:srgbClr val="66708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498294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7452F85-C6B8-4C7A-BD7F-0EDA4077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0CCBCF-7909-4795-ABDE-C1EB961D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"/>
            <a:ext cx="85915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FFFFFF"/>
                </a:solidFill>
              </a:defRPr>
            </a:pPr>
            <a:r>
              <a:rPr sz="4200" b="1" i="0">
                <a:solidFill>
                  <a:srgbClr val="FFFFFF"/>
                </a:solidFill>
              </a:rPr>
              <a:t>IBM Bob was the development partner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6975535-854F-48EB-8675-8068BC8E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9220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7D7FE"/>
                </a:solidFill>
              </a:defRPr>
            </a:pPr>
            <a:r>
              <a:rPr sz="1875" b="0" i="0">
                <a:solidFill>
                  <a:srgbClr val="C7D7FE"/>
                </a:solidFill>
              </a:rPr>
              <a:t>Bob helped move from idea to architecture, implementation, refactor, and final documentation.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7258D-5BA2-49EA-AA7F-FD3219A5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792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Bob IDE usage</a:t>
            </a:r>
          </a:p>
        </p:txBody>
      </p:sp>
      <p:sp>
        <p:nvSpPr>
          <p:cNvPr id="5" name="bullet-dot">
            <a:extLst xmlns:a="http://schemas.openxmlformats.org/drawingml/2006/main">
              <a:ext uri="{FF2B5EF4-FFF2-40B4-BE49-F238E27FC236}">
                <a16:creationId xmlns:a16="http://schemas.microsoft.com/office/drawing/2014/main" id="{6EF8FC4E-96B1-48D2-A7A3-1B949BCD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DBA"/>
          </a:solidFill>
          <a:ln xmlns:a="http://schemas.openxmlformats.org/drawingml/2006/main">
            <a:solidFill>
              <a:srgbClr val="08BDB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ADAB9-7763-44C1-AE13-19751AB0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14950"/>
            <a:ext cx="7620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Architecture exploration and planning</a:t>
            </a:r>
          </a:p>
        </p:txBody>
      </p:sp>
      <p:sp>
        <p:nvSpPr>
          <p:cNvPr id="7" name="bullet-dot">
            <a:extLst xmlns:a="http://schemas.openxmlformats.org/drawingml/2006/main">
              <a:ext uri="{FF2B5EF4-FFF2-40B4-BE49-F238E27FC236}">
                <a16:creationId xmlns:a16="http://schemas.microsoft.com/office/drawing/2014/main" id="{4EDF9C35-046F-46B3-B20C-2FE9AE71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62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DBA"/>
          </a:solidFill>
          <a:ln xmlns:a="http://schemas.openxmlformats.org/drawingml/2006/main">
            <a:solidFill>
              <a:srgbClr val="08BDB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198EC-33F5-4909-90B6-07FAF00C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67400"/>
            <a:ext cx="7620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Frontend implementation and TypeScript refactor</a:t>
            </a:r>
          </a:p>
        </p:txBody>
      </p:sp>
      <p:sp>
        <p:nvSpPr>
          <p:cNvPr id="9" name="bullet-dot">
            <a:extLst xmlns:a="http://schemas.openxmlformats.org/drawingml/2006/main">
              <a:ext uri="{FF2B5EF4-FFF2-40B4-BE49-F238E27FC236}">
                <a16:creationId xmlns:a16="http://schemas.microsoft.com/office/drawing/2014/main" id="{5CEA44EB-0C1A-4C9E-9B8B-64C0A334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15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DBA"/>
          </a:solidFill>
          <a:ln xmlns:a="http://schemas.openxmlformats.org/drawingml/2006/main">
            <a:solidFill>
              <a:srgbClr val="08BDB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51AAE-70CF-46B1-AF8A-D081687D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419850"/>
            <a:ext cx="7620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Documentation, runbook, and submission prep</a:t>
            </a:r>
          </a:p>
        </p:txBody>
      </p:sp>
      <p:sp>
        <p:nvSpPr>
          <p:cNvPr id="11" name="bullet-dot">
            <a:extLst xmlns:a="http://schemas.openxmlformats.org/drawingml/2006/main">
              <a:ext uri="{FF2B5EF4-FFF2-40B4-BE49-F238E27FC236}">
                <a16:creationId xmlns:a16="http://schemas.microsoft.com/office/drawing/2014/main" id="{890BD2C0-597F-459E-BCE9-470AA5B6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DBA"/>
          </a:solidFill>
          <a:ln xmlns:a="http://schemas.openxmlformats.org/drawingml/2006/main">
            <a:solidFill>
              <a:srgbClr val="08BDB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B38DF-079C-444F-A172-BA6F3B45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972300"/>
            <a:ext cx="7620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Task evidence exported to `bob_sessions/`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D6761-1F8B-4B0C-A635-595A95A1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667250"/>
            <a:ext cx="792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Hackathon pivot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E5BF2B-66A5-4FB5-80FF-E76E9A81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372100"/>
            <a:ext cx="79248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D4E3FF"/>
                </a:solidFill>
              </a:defRPr>
            </a:pPr>
            <a:r>
              <a:rPr sz="2250" b="0" i="0">
                <a:solidFill>
                  <a:srgbClr val="D4E3FF"/>
                </a:solidFill>
              </a:rPr>
              <a:t>The original plan included web + API + MCP. When BobCoins became a practical constraint, the team pivoted to a frontend-first MVP that preserved the core product value.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F95D83-E172-40E0-A27E-6DEE021C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6294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148"/>
          </a:solidFill>
          <a:ln xmlns:a="http://schemas.openxmlformats.org/drawingml/2006/main" w="0">
            <a:solidFill>
              <a:srgbClr val="24A1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FFBAA8-B428-4A16-9CE6-019FB764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915150"/>
            <a:ext cx="7924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A7F3D0"/>
                </a:solidFill>
              </a:defRPr>
            </a:pPr>
            <a:r>
              <a:rPr sz="2100" b="1" i="0">
                <a:solidFill>
                  <a:srgbClr val="A7F3D0"/>
                </a:solidFill>
              </a:rPr>
              <a:t>A working demo beat a broader unfinished architecture.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B8D024-0FCA-48F4-AA64-A65D005B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39250"/>
            <a:ext cx="2552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Instana Config Pilot | IBM Bob Hackathon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EFAC8-152E-48E0-BF38-FF149880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92392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67085"/>
                </a:solidFill>
              </a:defRPr>
            </a:pPr>
            <a:r>
              <a:rPr sz="1200" b="1" i="0">
                <a:solidFill>
                  <a:srgbClr val="66708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27969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720CE16-B988-4B98-8169-7CC1CB0B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861661-307E-42AE-B8D5-95050A77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"/>
            <a:ext cx="117919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101828"/>
                </a:solidFill>
              </a:defRPr>
            </a:pPr>
            <a:r>
              <a:rPr sz="4200" b="1" i="0">
                <a:solidFill>
                  <a:srgbClr val="101828"/>
                </a:solidFill>
              </a:rPr>
              <a:t>Final architecture: browser-first and static deployable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9B83791-0D09-44E0-8757-B1138AD5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9925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475467"/>
                </a:solidFill>
              </a:defRPr>
            </a:pPr>
            <a:r>
              <a:rPr sz="1875" b="0" i="0">
                <a:solidFill>
                  <a:srgbClr val="475467"/>
                </a:solidFill>
              </a:rPr>
              <a:t>The functional delivery removes API dependency and keeps the Instana workflow local to the frontend.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CF04F-1FCA-4290-A517-1D8FA3AD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94885"/>
            <a:ext cx="7943850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62F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6D3D1-837D-4113-8F36-1C50B28D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95850"/>
            <a:ext cx="1752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React + TypeScript + Vite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6B6DA-920B-479D-A0F3-B124DD97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7943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01828"/>
                </a:solidFill>
              </a:defRPr>
            </a:pPr>
            <a:r>
              <a:rPr sz="3600" b="1" i="0">
                <a:solidFill>
                  <a:srgbClr val="101828"/>
                </a:solidFill>
              </a:rPr>
              <a:t>Client-side engines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7F501-D0F2-41FE-AB48-0F21C2F4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15050"/>
            <a:ext cx="79438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475467"/>
                </a:solidFill>
              </a:defRPr>
            </a:pPr>
            <a:r>
              <a:rPr sz="2250" b="0" i="0">
                <a:solidFill>
                  <a:srgbClr val="475467"/>
                </a:solidFill>
              </a:rPr>
              <a:t>sensorDetector -&gt; sensorCatalog -&gt; validator -&gt; yamlGenerator -&gt; envGenerator -&gt; diffEngine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A69E1-CB0A-4BA5-A1E3-C83181A4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29150"/>
            <a:ext cx="7943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01828"/>
                </a:solidFill>
              </a:defRPr>
            </a:pPr>
            <a:r>
              <a:rPr sz="2550" b="1" i="0">
                <a:solidFill>
                  <a:srgbClr val="101828"/>
                </a:solidFill>
              </a:rPr>
              <a:t>Delivery scope</a:t>
            </a:r>
          </a:p>
        </p:txBody>
      </p:sp>
      <p:sp>
        <p:nvSpPr>
          <p:cNvPr id="9" name="bullet-dot">
            <a:extLst xmlns:a="http://schemas.openxmlformats.org/drawingml/2006/main">
              <a:ext uri="{FF2B5EF4-FFF2-40B4-BE49-F238E27FC236}">
                <a16:creationId xmlns:a16="http://schemas.microsoft.com/office/drawing/2014/main" id="{DC37B534-4D75-4ED1-ABCB-E57DF1E7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76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solidFill>
              <a:srgbClr val="0F62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59CC0-C18C-48CF-81D0-AB1EEE9A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181600"/>
            <a:ext cx="7639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Static frontend served by Nginx</a:t>
            </a:r>
          </a:p>
        </p:txBody>
      </p:sp>
      <p:sp>
        <p:nvSpPr>
          <p:cNvPr id="11" name="bullet-dot">
            <a:extLst xmlns:a="http://schemas.openxmlformats.org/drawingml/2006/main">
              <a:ext uri="{FF2B5EF4-FFF2-40B4-BE49-F238E27FC236}">
                <a16:creationId xmlns:a16="http://schemas.microsoft.com/office/drawing/2014/main" id="{B04FB7D0-E099-4CB7-867A-A6462EBD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72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solidFill>
              <a:srgbClr val="0F62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82941-5FFD-45AA-908B-1F42A884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676900"/>
            <a:ext cx="7639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Backend remains as reference/prototype code</a:t>
            </a:r>
          </a:p>
        </p:txBody>
      </p:sp>
      <p:sp>
        <p:nvSpPr>
          <p:cNvPr id="13" name="bullet-dot">
            <a:extLst xmlns:a="http://schemas.openxmlformats.org/drawingml/2006/main">
              <a:ext uri="{FF2B5EF4-FFF2-40B4-BE49-F238E27FC236}">
                <a16:creationId xmlns:a16="http://schemas.microsoft.com/office/drawing/2014/main" id="{706F9C87-F99E-4C37-9A04-AECA7B4E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267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solidFill>
              <a:srgbClr val="0F62F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0C88F-9426-4385-8790-34186659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172200"/>
            <a:ext cx="7639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No production secrets or client data required</a:t>
            </a:r>
          </a:p>
        </p:txBody>
      </p:sp>
      <p:sp>
        <p:nvSpPr>
          <p:cNvPr id="15" name="bullet-dot">
            <a:extLst xmlns:a="http://schemas.openxmlformats.org/drawingml/2006/main">
              <a:ext uri="{FF2B5EF4-FFF2-40B4-BE49-F238E27FC236}">
                <a16:creationId xmlns:a16="http://schemas.microsoft.com/office/drawing/2014/main" id="{5298A495-5786-45CF-8D01-ADEB77AF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743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solidFill>
              <a:srgbClr val="0F62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C496D1-4212-429A-8E09-A10E6EA5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667500"/>
            <a:ext cx="7639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Future MCP/API path remains possible after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67458-1489-4781-A655-962400DE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39250"/>
            <a:ext cx="2552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Instana Config Pilot | IBM Bob Hackathon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C959A4-8703-4D24-B27E-2CFD23C0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92392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67085"/>
                </a:solidFill>
              </a:defRPr>
            </a:pPr>
            <a:r>
              <a:rPr sz="1200" b="1" i="0">
                <a:solidFill>
                  <a:srgbClr val="66708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7286105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61731E4-2597-4528-A058-2AFE1863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8DDE3F-8E80-4646-B020-EDBA90AE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6750"/>
            <a:ext cx="91059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101828"/>
                </a:solidFill>
              </a:defRPr>
            </a:pPr>
            <a:r>
              <a:rPr sz="4200" b="1" i="0">
                <a:solidFill>
                  <a:srgbClr val="101828"/>
                </a:solidFill>
              </a:rPr>
              <a:t>Impact: safer configuration, faster review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E1E19C8-CEDD-4BAD-9010-40675695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7620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475467"/>
                </a:solidFill>
              </a:defRPr>
            </a:pPr>
            <a:r>
              <a:rPr sz="1875" b="0" i="0">
                <a:solidFill>
                  <a:srgbClr val="475467"/>
                </a:solidFill>
              </a:rPr>
              <a:t>A focused proof of concept for teams that manage Instana agent configuration.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5B07F-CF12-4949-8554-ED26CAFE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792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01828"/>
                </a:solidFill>
              </a:defRPr>
            </a:pPr>
            <a:r>
              <a:rPr sz="3150" b="1" i="0">
                <a:solidFill>
                  <a:srgbClr val="101828"/>
                </a:solidFill>
              </a:rPr>
              <a:t>What changes</a:t>
            </a:r>
          </a:p>
        </p:txBody>
      </p:sp>
      <p:sp>
        <p:nvSpPr>
          <p:cNvPr id="5" name="bullet-dot">
            <a:extLst xmlns:a="http://schemas.openxmlformats.org/drawingml/2006/main">
              <a:ext uri="{FF2B5EF4-FFF2-40B4-BE49-F238E27FC236}">
                <a16:creationId xmlns:a16="http://schemas.microsoft.com/office/drawing/2014/main" id="{11B6B4B6-A9C6-4EB0-84FE-45C30C15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8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solidFill>
              <a:srgbClr val="0F62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1F491-F3A0-4240-AF9F-227A721B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53050"/>
            <a:ext cx="7620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Less manual YAML editing</a:t>
            </a:r>
          </a:p>
        </p:txBody>
      </p:sp>
      <p:sp>
        <p:nvSpPr>
          <p:cNvPr id="7" name="bullet-dot">
            <a:extLst xmlns:a="http://schemas.openxmlformats.org/drawingml/2006/main">
              <a:ext uri="{FF2B5EF4-FFF2-40B4-BE49-F238E27FC236}">
                <a16:creationId xmlns:a16="http://schemas.microsoft.com/office/drawing/2014/main" id="{7CD1C83E-4A90-4EA5-B4B2-3999EE5A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62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solidFill>
              <a:srgbClr val="0F62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C5470-AA97-4B6D-9CC4-D973050A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67400"/>
            <a:ext cx="7620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More consistent operational tags</a:t>
            </a:r>
          </a:p>
        </p:txBody>
      </p:sp>
      <p:sp>
        <p:nvSpPr>
          <p:cNvPr id="9" name="bullet-dot">
            <a:extLst xmlns:a="http://schemas.openxmlformats.org/drawingml/2006/main">
              <a:ext uri="{FF2B5EF4-FFF2-40B4-BE49-F238E27FC236}">
                <a16:creationId xmlns:a16="http://schemas.microsoft.com/office/drawing/2014/main" id="{3BE2BEDA-7591-4D89-A84A-088D1222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solidFill>
              <a:srgbClr val="0F62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8102D-670B-4FCB-8F07-3AE1343B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381750"/>
            <a:ext cx="7620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Secrets pushed toward environment variables</a:t>
            </a:r>
          </a:p>
        </p:txBody>
      </p:sp>
      <p:sp>
        <p:nvSpPr>
          <p:cNvPr id="11" name="bullet-dot">
            <a:extLst xmlns:a="http://schemas.openxmlformats.org/drawingml/2006/main">
              <a:ext uri="{FF2B5EF4-FFF2-40B4-BE49-F238E27FC236}">
                <a16:creationId xmlns:a16="http://schemas.microsoft.com/office/drawing/2014/main" id="{5AA43342-3D28-4676-8AE9-25E92CAD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972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2FE"/>
          </a:solidFill>
          <a:ln xmlns:a="http://schemas.openxmlformats.org/drawingml/2006/main">
            <a:solidFill>
              <a:srgbClr val="0F62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85777-AB04-491E-B1B3-7199AC27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96100"/>
            <a:ext cx="7620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Diffs visible before config reaches a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29555-DB41-4181-B87B-A17EE987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686300"/>
            <a:ext cx="792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01828"/>
                </a:solidFill>
              </a:defRPr>
            </a:pPr>
            <a:r>
              <a:rPr sz="3150" b="1" i="0">
                <a:solidFill>
                  <a:srgbClr val="101828"/>
                </a:solidFill>
              </a:rPr>
              <a:t>Next steps</a:t>
            </a:r>
          </a:p>
        </p:txBody>
      </p:sp>
      <p:sp>
        <p:nvSpPr>
          <p:cNvPr id="14" name="bullet-dot">
            <a:extLst xmlns:a="http://schemas.openxmlformats.org/drawingml/2006/main">
              <a:ext uri="{FF2B5EF4-FFF2-40B4-BE49-F238E27FC236}">
                <a16:creationId xmlns:a16="http://schemas.microsoft.com/office/drawing/2014/main" id="{CAA2192B-07E5-404F-AEED-EFF70163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48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4CFF"/>
          </a:solidFill>
          <a:ln xmlns:a="http://schemas.openxmlformats.org/drawingml/2006/main">
            <a:solidFill>
              <a:srgbClr val="6F4C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6D97CF-E88A-44CC-A476-81AA50E4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53050"/>
            <a:ext cx="7620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Add unit tests for frontend engines</a:t>
            </a:r>
          </a:p>
        </p:txBody>
      </p:sp>
      <p:sp>
        <p:nvSpPr>
          <p:cNvPr id="16" name="bullet-dot">
            <a:extLst xmlns:a="http://schemas.openxmlformats.org/drawingml/2006/main">
              <a:ext uri="{FF2B5EF4-FFF2-40B4-BE49-F238E27FC236}">
                <a16:creationId xmlns:a16="http://schemas.microsoft.com/office/drawing/2014/main" id="{AD76A762-F71E-4E4A-BBB5-B2286AEC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962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4CFF"/>
          </a:solidFill>
          <a:ln xmlns:a="http://schemas.openxmlformats.org/drawingml/2006/main">
            <a:solidFill>
              <a:srgbClr val="6F4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B398D-CCE8-4DCA-A733-C851AE06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867400"/>
            <a:ext cx="7620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Improve nested YAML rendering for more sensors</a:t>
            </a:r>
          </a:p>
        </p:txBody>
      </p:sp>
      <p:sp>
        <p:nvSpPr>
          <p:cNvPr id="18" name="bullet-dot">
            <a:extLst xmlns:a="http://schemas.openxmlformats.org/drawingml/2006/main">
              <a:ext uri="{FF2B5EF4-FFF2-40B4-BE49-F238E27FC236}">
                <a16:creationId xmlns:a16="http://schemas.microsoft.com/office/drawing/2014/main" id="{AEFF562C-1F94-4DDC-B473-FF2D0DAB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477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4CFF"/>
          </a:solidFill>
          <a:ln xmlns:a="http://schemas.openxmlformats.org/drawingml/2006/main">
            <a:solidFill>
              <a:srgbClr val="6F4C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8E017F-85CE-4D0C-BFE2-177EE7FC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81750"/>
            <a:ext cx="7620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Add frontend-only ZIP bundle export</a:t>
            </a:r>
          </a:p>
        </p:txBody>
      </p:sp>
      <p:sp>
        <p:nvSpPr>
          <p:cNvPr id="20" name="bullet-dot">
            <a:extLst xmlns:a="http://schemas.openxmlformats.org/drawingml/2006/main">
              <a:ext uri="{FF2B5EF4-FFF2-40B4-BE49-F238E27FC236}">
                <a16:creationId xmlns:a16="http://schemas.microsoft.com/office/drawing/2014/main" id="{ED046710-08C3-408D-A7BB-2B4377A4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972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4CFF"/>
          </a:solidFill>
          <a:ln xmlns:a="http://schemas.openxmlformats.org/drawingml/2006/main">
            <a:solidFill>
              <a:srgbClr val="6F4C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7C6AFA-6C55-4D39-A086-50A9E249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896100"/>
            <a:ext cx="7620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Revisit API/MCP integration after MVP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866ED1-990C-4ECE-B499-FAF17A84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39250"/>
            <a:ext cx="2552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Instana Config Pilot | IBM Bob Hackathon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FDA94F-B0EB-4746-B3DE-6CA32CB5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923925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67085"/>
                </a:solidFill>
              </a:defRPr>
            </a:pPr>
            <a:r>
              <a:rPr sz="1200" b="1" i="0">
                <a:solidFill>
                  <a:srgbClr val="66708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09892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2026-05-17T11:32:56.3520000Z</dcterms:created>
  <dcterms:modified xsi:type="dcterms:W3CDTF">2026-05-17T11:32:56.3520000Z</dcterms:modified>
</coreProperties>
</file>